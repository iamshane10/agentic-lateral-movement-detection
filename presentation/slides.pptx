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765513e5b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d765513e5b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765513e5b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q-hoIrfNXVg" TargetMode="External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743200" y="914400"/>
            <a:ext cx="6400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3000"/>
              <a:buFont typeface="Calibri"/>
              <a:buNone/>
            </a:pPr>
            <a:r>
              <a:rPr b="1" i="0" lang="en-US" sz="13000" u="none" cap="none" strike="noStrike">
                <a:solidFill>
                  <a:srgbClr val="1A2F5E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54864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Can AI outsmart a hacker?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Lateral Movement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83464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Using an AI agent + knowledge graph to find attackers hiding inside a network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Shane  ·  CIS 6930 SP26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Attacker Is Already Inside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Most attacks aren't a smash-and-grab. They're a slow crawl.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60" y="1417320"/>
            <a:ext cx="2606040" cy="2468880"/>
          </a:xfrm>
          <a:prstGeom prst="rect">
            <a:avLst/>
          </a:prstGeom>
          <a:solidFill>
            <a:srgbClr val="1E5FA8"/>
          </a:solidFill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155448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207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256032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Average days attackers lurk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before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200400" y="1417320"/>
            <a:ext cx="2606040" cy="2468880"/>
          </a:xfrm>
          <a:prstGeom prst="rect">
            <a:avLst/>
          </a:prstGeom>
          <a:solidFill>
            <a:srgbClr val="1E5FA8"/>
          </a:solidFill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200400" y="155448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61%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200400" y="256032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Of breaches 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legitimate credentials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035040" y="1417320"/>
            <a:ext cx="2606040" cy="2468880"/>
          </a:xfrm>
          <a:prstGeom prst="rect">
            <a:avLst/>
          </a:prstGeom>
          <a:solidFill>
            <a:srgbClr val="1E5FA8"/>
          </a:solidFill>
          <a:ln>
            <a:noFill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035040" y="155448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1000s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035040" y="256032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Traditional alerts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generated per day in enterprise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Security teams are flooded. Finding one attacker in a sea of alerts is like finding a needle in a haystack — except the needle is wearing a disguise.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Is Lateral Movement?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20040" y="1005840"/>
            <a:ext cx="1920240" cy="201168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320040" y="1097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🔓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20040" y="19202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Attacker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Gets 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2240280" y="1874520"/>
            <a:ext cx="228600" cy="13716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2468880" y="1005840"/>
            <a:ext cx="1920240" cy="2011680"/>
          </a:xfrm>
          <a:prstGeom prst="rect">
            <a:avLst/>
          </a:prstGeom>
          <a:solidFill>
            <a:srgbClr val="DD6B2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2468880" y="1097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2468880" y="19202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Credentials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389120" y="1874520"/>
            <a:ext cx="228600" cy="13716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617720" y="1005840"/>
            <a:ext cx="1920240" cy="2011680"/>
          </a:xfrm>
          <a:prstGeom prst="rect">
            <a:avLst/>
          </a:prstGeom>
          <a:solidFill>
            <a:srgbClr val="D69E2E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617720" y="1097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617720" y="19202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Hops Machine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Machine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537960" y="1874520"/>
            <a:ext cx="228600" cy="13716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766560" y="1005840"/>
            <a:ext cx="1920240" cy="2011680"/>
          </a:xfrm>
          <a:prstGeom prst="rect">
            <a:avLst/>
          </a:prstGeom>
          <a:solidFill>
            <a:srgbClr val="1E5FA8"/>
          </a:solidFill>
          <a:ln>
            <a:noFill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766560" y="1097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766560" y="19202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20040" y="320040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Using only STOLEN credentials — they look just like normal employees.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0040" y="3749040"/>
            <a:ext cx="8503920" cy="105156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20040" y="3749040"/>
            <a:ext cx="8503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This project uses REAL network logs from Los Alamos National Laboratory (LANL) — a U.S. national security research facility — to detect exactly this behavior.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Approach: Think Like a Detective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Two systems working together — a knowledge graph + an AI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20040" y="1234440"/>
            <a:ext cx="3840480" cy="3474720"/>
          </a:xfrm>
          <a:prstGeom prst="rect">
            <a:avLst/>
          </a:prstGeom>
          <a:solidFill>
            <a:srgbClr val="1A2F5E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320040" y="1234440"/>
            <a:ext cx="3840480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320040" y="12344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🗺  Knowledge Graph (Neo4j)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1737360"/>
            <a:ext cx="35661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Stores the whole network as a web of connections:</a:t>
            </a:r>
            <a:b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• Users linked to computers they logged into</a:t>
            </a:r>
            <a:b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• Every login: time, success or fail, method used</a:t>
            </a:r>
            <a:b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• Every program they ran</a:t>
            </a:r>
            <a:b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Ask it: "Has this user EVER logged into this machine before?"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572000" y="1234440"/>
            <a:ext cx="4160520" cy="3474720"/>
          </a:xfrm>
          <a:prstGeom prst="rect">
            <a:avLst/>
          </a:prstGeom>
          <a:solidFill>
            <a:srgbClr val="1A2F5E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4572000" y="1234440"/>
            <a:ext cx="4160520" cy="41148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4572000" y="12344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  AI Agent (GPT-4o)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709160" y="1737360"/>
            <a:ext cx="38862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Investigates like a detective — on its own:</a:t>
            </a:r>
            <a:b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Phase 1: Scans the whole time window for suspicious patterns. No one told it who to look at.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Phase 2: Picks the top suspects, digs deep, asks the graph questions, and writes its conclusion.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069080" y="260604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Not Just Use SQL Tables?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To find "U456 hopped C5 → C8 → C12", SQL needs 3 joined tables. A graph just follows the edges.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28600" y="1234440"/>
            <a:ext cx="3931920" cy="3657600"/>
          </a:xfrm>
          <a:prstGeom prst="rect">
            <a:avLst/>
          </a:prstGeom>
          <a:solidFill>
            <a:srgbClr val="1A2F5E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228600" y="1234440"/>
            <a:ext cx="3931920" cy="347472"/>
          </a:xfrm>
          <a:prstGeom prst="rect">
            <a:avLst/>
          </a:prstGeom>
          <a:solidFill>
            <a:srgbClr val="C53030"/>
          </a:solidFill>
          <a:ln cap="flat" cmpd="sng" w="12700">
            <a:solidFill>
              <a:srgbClr val="C5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228600" y="12344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Tables (3 JOINs required)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320040" y="1691640"/>
            <a:ext cx="1691640" cy="256032"/>
          </a:xfrm>
          <a:prstGeom prst="rect">
            <a:avLst/>
          </a:prstGeom>
          <a:solidFill>
            <a:srgbClr val="2D3748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320040" y="169164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320040" y="1947672"/>
            <a:ext cx="621792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320040" y="1947672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DF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90CDF4"/>
                </a:solidFill>
                <a:latin typeface="Consolas"/>
                <a:ea typeface="Consolas"/>
                <a:cs typeface="Consolas"/>
                <a:sym typeface="Consolas"/>
              </a:rPr>
              <a:t>user_id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960120" y="1947672"/>
            <a:ext cx="621792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960120" y="1947672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DF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90CDF4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20040" y="2185416"/>
            <a:ext cx="621792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320040" y="2185416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U100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960120" y="2185416"/>
            <a:ext cx="621792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960120" y="2185416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Alice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20040" y="2423160"/>
            <a:ext cx="621792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320040" y="2423160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U456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60120" y="2423160"/>
            <a:ext cx="621792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960120" y="2423160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Bob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320040" y="2660904"/>
            <a:ext cx="621792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20040" y="2660904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U789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960120" y="2660904"/>
            <a:ext cx="621792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960120" y="2660904"/>
            <a:ext cx="6217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Carol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2148840" y="1691640"/>
            <a:ext cx="1691640" cy="256032"/>
          </a:xfrm>
          <a:prstGeom prst="rect">
            <a:avLst/>
          </a:prstGeom>
          <a:solidFill>
            <a:srgbClr val="2D3748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2148840" y="169164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computers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148840" y="1947672"/>
            <a:ext cx="557784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2148840" y="1947672"/>
            <a:ext cx="557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DF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90CDF4"/>
                </a:solidFill>
                <a:latin typeface="Consolas"/>
                <a:ea typeface="Consolas"/>
                <a:cs typeface="Consolas"/>
                <a:sym typeface="Consolas"/>
              </a:rPr>
              <a:t>host_id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715768" y="1947672"/>
            <a:ext cx="557784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2715768" y="1947672"/>
            <a:ext cx="557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DF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90CDF4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148840" y="2185416"/>
            <a:ext cx="557784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2148840" y="2185416"/>
            <a:ext cx="557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C5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715768" y="2185416"/>
            <a:ext cx="557784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2715768" y="2185416"/>
            <a:ext cx="557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Server-5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2148840" y="2423160"/>
            <a:ext cx="557784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2148840" y="2423160"/>
            <a:ext cx="557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C8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715768" y="2423160"/>
            <a:ext cx="557784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715768" y="2423160"/>
            <a:ext cx="557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DB-8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148840" y="2660904"/>
            <a:ext cx="557784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148840" y="2660904"/>
            <a:ext cx="557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C12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715768" y="2660904"/>
            <a:ext cx="557784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715768" y="2660904"/>
            <a:ext cx="557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Admin-12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20040" y="3017520"/>
            <a:ext cx="3520440" cy="256032"/>
          </a:xfrm>
          <a:prstGeom prst="rect">
            <a:avLst/>
          </a:prstGeom>
          <a:solidFill>
            <a:srgbClr val="2D3748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320040" y="301752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auth_log  (54 million rows)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20040" y="3273552"/>
            <a:ext cx="749808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20040" y="3273552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DF4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90CDF4"/>
                </a:solidFill>
                <a:latin typeface="Consolas"/>
                <a:ea typeface="Consolas"/>
                <a:cs typeface="Consolas"/>
                <a:sym typeface="Consolas"/>
              </a:rPr>
              <a:t>user_id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78992" y="3273552"/>
            <a:ext cx="658368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1078992" y="3273552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DF4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90CDF4"/>
                </a:solidFill>
                <a:latin typeface="Consolas"/>
                <a:ea typeface="Consolas"/>
                <a:cs typeface="Consolas"/>
                <a:sym typeface="Consolas"/>
              </a:rPr>
              <a:t>host_id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746504" y="3273552"/>
            <a:ext cx="749808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746504" y="3273552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DF4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90CDF4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505456" y="3273552"/>
            <a:ext cx="749808" cy="2286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2505456" y="3273552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DF4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90CDF4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20040" y="3511296"/>
            <a:ext cx="749808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320040" y="3511296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U456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078992" y="3511296"/>
            <a:ext cx="658368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078992" y="3511296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C5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746504" y="3511296"/>
            <a:ext cx="749808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746504" y="3511296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763210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2505456" y="3511296"/>
            <a:ext cx="749808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2505456" y="3511296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Success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20040" y="3749040"/>
            <a:ext cx="749808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20040" y="3749040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U456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78992" y="3749040"/>
            <a:ext cx="658368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078992" y="3749040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C8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746504" y="3749040"/>
            <a:ext cx="749808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746504" y="3749040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763450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505456" y="3749040"/>
            <a:ext cx="749808" cy="228600"/>
          </a:xfrm>
          <a:prstGeom prst="rect">
            <a:avLst/>
          </a:prstGeom>
          <a:solidFill>
            <a:srgbClr val="1A2744"/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2505456" y="3749040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EDF2F7"/>
                </a:solidFill>
                <a:latin typeface="Consolas"/>
                <a:ea typeface="Consolas"/>
                <a:cs typeface="Consolas"/>
                <a:sym typeface="Consolas"/>
              </a:rPr>
              <a:t>Success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20040" y="3986784"/>
            <a:ext cx="749808" cy="228600"/>
          </a:xfrm>
          <a:prstGeom prst="rect">
            <a:avLst/>
          </a:prstGeom>
          <a:solidFill>
            <a:srgbClr val="2C4A2E"/>
          </a:solidFill>
          <a:ln cap="flat" cmpd="sng" w="9525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20040" y="3986784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D391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68D391"/>
                </a:solidFill>
                <a:latin typeface="Consolas"/>
                <a:ea typeface="Consolas"/>
                <a:cs typeface="Consolas"/>
                <a:sym typeface="Consolas"/>
              </a:rPr>
              <a:t>U456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078992" y="3986784"/>
            <a:ext cx="658368" cy="228600"/>
          </a:xfrm>
          <a:prstGeom prst="rect">
            <a:avLst/>
          </a:prstGeom>
          <a:solidFill>
            <a:srgbClr val="2C4A2E"/>
          </a:solidFill>
          <a:ln cap="flat" cmpd="sng" w="9525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078992" y="3986784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D391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68D391"/>
                </a:solidFill>
                <a:latin typeface="Consolas"/>
                <a:ea typeface="Consolas"/>
                <a:cs typeface="Consolas"/>
                <a:sym typeface="Consolas"/>
              </a:rPr>
              <a:t>C12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746504" y="3986784"/>
            <a:ext cx="749808" cy="228600"/>
          </a:xfrm>
          <a:prstGeom prst="rect">
            <a:avLst/>
          </a:prstGeom>
          <a:solidFill>
            <a:srgbClr val="2C4A2E"/>
          </a:solidFill>
          <a:ln cap="flat" cmpd="sng" w="9525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746504" y="3986784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D391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68D391"/>
                </a:solidFill>
                <a:latin typeface="Consolas"/>
                <a:ea typeface="Consolas"/>
                <a:cs typeface="Consolas"/>
                <a:sym typeface="Consolas"/>
              </a:rPr>
              <a:t>763900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505456" y="3986784"/>
            <a:ext cx="749808" cy="228600"/>
          </a:xfrm>
          <a:prstGeom prst="rect">
            <a:avLst/>
          </a:prstGeom>
          <a:solidFill>
            <a:srgbClr val="2C4A2E"/>
          </a:solidFill>
          <a:ln cap="flat" cmpd="sng" w="9525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2505456" y="3986784"/>
            <a:ext cx="749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D391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68D391"/>
                </a:solidFill>
                <a:latin typeface="Consolas"/>
                <a:ea typeface="Consolas"/>
                <a:cs typeface="Consolas"/>
                <a:sym typeface="Consolas"/>
              </a:rPr>
              <a:t>Success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30936" y="2560320"/>
            <a:ext cx="36576" cy="429768"/>
          </a:xfrm>
          <a:prstGeom prst="rect">
            <a:avLst/>
          </a:prstGeom>
          <a:solidFill>
            <a:srgbClr val="FC8181"/>
          </a:solidFill>
          <a:ln cap="flat" cmpd="sng" w="12700">
            <a:solidFill>
              <a:srgbClr val="FC81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30936" y="2980944"/>
            <a:ext cx="612648" cy="36576"/>
          </a:xfrm>
          <a:prstGeom prst="rect">
            <a:avLst/>
          </a:prstGeom>
          <a:solidFill>
            <a:srgbClr val="FC8181"/>
          </a:solidFill>
          <a:ln cap="flat" cmpd="sng" w="12700">
            <a:solidFill>
              <a:srgbClr val="FC81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960120" y="2551176"/>
            <a:ext cx="658368" cy="20116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FC81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60120" y="255117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818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C8181"/>
                </a:solidFill>
                <a:latin typeface="Calibri"/>
                <a:ea typeface="Calibri"/>
                <a:cs typeface="Calibri"/>
                <a:sym typeface="Calibri"/>
              </a:rPr>
              <a:t>JOIN #1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395728" y="2560320"/>
            <a:ext cx="36576" cy="429768"/>
          </a:xfrm>
          <a:prstGeom prst="rect">
            <a:avLst/>
          </a:prstGeom>
          <a:solidFill>
            <a:srgbClr val="FC8181"/>
          </a:solidFill>
          <a:ln cap="flat" cmpd="sng" w="12700">
            <a:solidFill>
              <a:srgbClr val="FC81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828800" y="2980944"/>
            <a:ext cx="603504" cy="36576"/>
          </a:xfrm>
          <a:prstGeom prst="rect">
            <a:avLst/>
          </a:prstGeom>
          <a:solidFill>
            <a:srgbClr val="FC8181"/>
          </a:solidFill>
          <a:ln cap="flat" cmpd="sng" w="12700">
            <a:solidFill>
              <a:srgbClr val="FC81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664208" y="2551176"/>
            <a:ext cx="658368" cy="20116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FC81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664208" y="255117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818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C8181"/>
                </a:solidFill>
                <a:latin typeface="Calibri"/>
                <a:ea typeface="Calibri"/>
                <a:cs typeface="Calibri"/>
                <a:sym typeface="Calibri"/>
              </a:rPr>
              <a:t>JOIN #2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20040" y="4224528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81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C8181"/>
                </a:solidFill>
                <a:latin typeface="Calibri"/>
                <a:ea typeface="Calibri"/>
                <a:cs typeface="Calibri"/>
                <a:sym typeface="Calibri"/>
              </a:rPr>
              <a:t>+ self-JOIN #3 to chain hops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20040" y="4462272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81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C8181"/>
                </a:solidFill>
                <a:latin typeface="Calibri"/>
                <a:ea typeface="Calibri"/>
                <a:cs typeface="Calibri"/>
                <a:sym typeface="Calibri"/>
              </a:rPr>
              <a:t>Slower with every extra hop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187952" y="1234440"/>
            <a:ext cx="36576" cy="3657600"/>
          </a:xfrm>
          <a:prstGeom prst="rect">
            <a:avLst/>
          </a:prstGeom>
          <a:solidFill>
            <a:srgbClr val="2D4A7A"/>
          </a:solidFill>
          <a:ln cap="flat" cmpd="sng" w="12700">
            <a:solidFill>
              <a:srgbClr val="2D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041648" y="2834640"/>
            <a:ext cx="3291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389120" y="1234440"/>
            <a:ext cx="4526280" cy="3657600"/>
          </a:xfrm>
          <a:prstGeom prst="rect">
            <a:avLst/>
          </a:prstGeom>
          <a:solidFill>
            <a:srgbClr val="1A2F5E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389120" y="1234440"/>
            <a:ext cx="4526280" cy="347472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389120" y="1234440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Graph — just follow the edges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 rot="-28063">
            <a:off x="4901184" y="2649931"/>
            <a:ext cx="2240355" cy="22860"/>
          </a:xfrm>
          <a:prstGeom prst="rect">
            <a:avLst/>
          </a:prstGeom>
          <a:solidFill>
            <a:srgbClr val="2D4A7A"/>
          </a:solidFill>
          <a:ln cap="flat" cmpd="sng" w="12700">
            <a:solidFill>
              <a:srgbClr val="2D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 rot="-92473">
            <a:off x="6044184" y="1900123"/>
            <a:ext cx="2039850" cy="22860"/>
          </a:xfrm>
          <a:prstGeom prst="rect">
            <a:avLst/>
          </a:prstGeom>
          <a:solidFill>
            <a:srgbClr val="2D4A7A"/>
          </a:solidFill>
          <a:ln cap="flat" cmpd="sng" w="12700">
            <a:solidFill>
              <a:srgbClr val="2D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 rot="1699647">
            <a:off x="7141464" y="2631643"/>
            <a:ext cx="1329658" cy="22860"/>
          </a:xfrm>
          <a:prstGeom prst="rect">
            <a:avLst/>
          </a:prstGeom>
          <a:solidFill>
            <a:srgbClr val="2D4A7A"/>
          </a:solidFill>
          <a:ln cap="flat" cmpd="sng" w="12700">
            <a:solidFill>
              <a:srgbClr val="2D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 rot="-1995892">
            <a:off x="4901184" y="2624328"/>
            <a:ext cx="1366990" cy="73152"/>
          </a:xfrm>
          <a:prstGeom prst="rect">
            <a:avLst/>
          </a:prstGeom>
          <a:solidFill>
            <a:srgbClr val="00B4D8">
              <a:alpha val="30196"/>
            </a:srgbClr>
          </a:solidFill>
          <a:ln cap="flat" cmpd="sng" w="12700">
            <a:solidFill>
              <a:srgbClr val="00B4D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 rot="-1995892">
            <a:off x="4901184" y="2644445"/>
            <a:ext cx="1366990" cy="3291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5289804" y="2103120"/>
            <a:ext cx="457200" cy="20116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289804" y="21031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Hop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409944" y="2093976"/>
            <a:ext cx="457200" cy="20116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409944" y="209397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Hop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 rot="7436190">
            <a:off x="7141464" y="2606040"/>
            <a:ext cx="1179292" cy="73152"/>
          </a:xfrm>
          <a:prstGeom prst="rect">
            <a:avLst/>
          </a:prstGeom>
          <a:solidFill>
            <a:srgbClr val="00B4D8">
              <a:alpha val="30196"/>
            </a:srgbClr>
          </a:solidFill>
          <a:ln cap="flat" cmpd="sng" w="12700">
            <a:solidFill>
              <a:srgbClr val="00B4D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 rot="7436190">
            <a:off x="7141464" y="2626157"/>
            <a:ext cx="1179292" cy="3291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629400" y="2948940"/>
            <a:ext cx="457200" cy="20116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629400" y="29489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Hop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617720" y="2468880"/>
            <a:ext cx="566928" cy="38404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617720" y="246888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U456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806440" y="1737360"/>
            <a:ext cx="475488" cy="347472"/>
          </a:xfrm>
          <a:prstGeom prst="ellipse">
            <a:avLst/>
          </a:prstGeom>
          <a:solidFill>
            <a:srgbClr val="F6AD5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903720" y="2468880"/>
            <a:ext cx="475488" cy="347472"/>
          </a:xfrm>
          <a:prstGeom prst="ellipse">
            <a:avLst/>
          </a:prstGeom>
          <a:solidFill>
            <a:srgbClr val="F6AD5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903720" y="2468880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217920" y="3429000"/>
            <a:ext cx="530352" cy="384048"/>
          </a:xfrm>
          <a:prstGeom prst="ellipse">
            <a:avLst/>
          </a:prstGeom>
          <a:solidFill>
            <a:srgbClr val="68D391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217920" y="3429000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863840" y="1691640"/>
            <a:ext cx="438912" cy="329184"/>
          </a:xfrm>
          <a:prstGeom prst="ellipse">
            <a:avLst/>
          </a:prstGeom>
          <a:solidFill>
            <a:srgbClr val="71809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7863840" y="1691640"/>
            <a:ext cx="438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092440" y="3108960"/>
            <a:ext cx="438912" cy="329184"/>
          </a:xfrm>
          <a:prstGeom prst="ellipse">
            <a:avLst/>
          </a:prstGeom>
          <a:solidFill>
            <a:srgbClr val="71809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8092440" y="3108960"/>
            <a:ext cx="4389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462272" y="4251960"/>
            <a:ext cx="274320" cy="182880"/>
          </a:xfrm>
          <a:prstGeom prst="ellipse">
            <a:avLst/>
          </a:prstGeom>
          <a:solidFill>
            <a:srgbClr val="00B4D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764024" y="423367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577840" y="4251960"/>
            <a:ext cx="274320" cy="182880"/>
          </a:xfrm>
          <a:prstGeom prst="ellipse">
            <a:avLst/>
          </a:prstGeom>
          <a:solidFill>
            <a:srgbClr val="F6AD5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5879592" y="423367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949440" y="4251960"/>
            <a:ext cx="274320" cy="182880"/>
          </a:xfrm>
          <a:prstGeom prst="ellipse">
            <a:avLst/>
          </a:prstGeom>
          <a:solidFill>
            <a:srgbClr val="68D39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7251192" y="4233672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462272" y="4544568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D3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8D391"/>
                </a:solidFill>
                <a:latin typeface="Calibri"/>
                <a:ea typeface="Calibri"/>
                <a:cs typeface="Calibri"/>
                <a:sym typeface="Calibri"/>
              </a:rPr>
              <a:t>Stays fast even across 10 hops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425" y="1571275"/>
            <a:ext cx="4526276" cy="34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338" y="1581901"/>
            <a:ext cx="1914100" cy="1513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The AI's Toolkit: 9 Specialist Tools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Three categories — the agent picks which ones to use, when to use them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274320" y="1280160"/>
            <a:ext cx="2697480" cy="352044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274320" y="1280160"/>
            <a:ext cx="2697480" cy="457200"/>
          </a:xfrm>
          <a:prstGeom prst="rect">
            <a:avLst/>
          </a:prstGeom>
          <a:solidFill>
            <a:srgbClr val="E53E3E"/>
          </a:solidFill>
          <a:ln cap="flat" cmpd="sng" w="1270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274320" y="12801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Behavioral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65760" y="18288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• Unusual login failures?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65760" y="22860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• First time on this machine?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65760" y="27432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• Running unknown programs?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274320" y="3794760"/>
            <a:ext cx="2697480" cy="1005840"/>
          </a:xfrm>
          <a:prstGeom prst="rect">
            <a:avLst/>
          </a:prstGeom>
          <a:solidFill>
            <a:srgbClr val="E53E3E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347472" y="3822192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Spots the suspicious fingerprints that humans miss in 10M+ events.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200400" y="1280160"/>
            <a:ext cx="2697480" cy="352044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3200400" y="1280160"/>
            <a:ext cx="2697480" cy="457200"/>
          </a:xfrm>
          <a:prstGeom prst="rect">
            <a:avLst/>
          </a:prstGeom>
          <a:solidFill>
            <a:srgbClr val="1E5FA8"/>
          </a:solidFill>
          <a:ln cap="flat" cmpd="sng" w="12700">
            <a:solidFill>
              <a:srgbClr val="1E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200400" y="12801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🗺  Network Topology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291840" y="18288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• Is this a hub machine everyone uses?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291840" y="22860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• Reconstruct the attacker's travel 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291840" y="27432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• Who connects through here?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200400" y="3794760"/>
            <a:ext cx="2697480" cy="1005840"/>
          </a:xfrm>
          <a:prstGeom prst="rect">
            <a:avLst/>
          </a:prstGeom>
          <a:solidFill>
            <a:srgbClr val="1E5FA8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3273552" y="3822192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Sees the big picture — which machines are pivot points.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126480" y="1280160"/>
            <a:ext cx="2697480" cy="352044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6126480" y="1280160"/>
            <a:ext cx="2697480" cy="457200"/>
          </a:xfrm>
          <a:prstGeom prst="rect">
            <a:avLst/>
          </a:prstGeom>
          <a:solidFill>
            <a:srgbClr val="38A169"/>
          </a:solidFill>
          <a:ln cap="flat" cmpd="sng" w="12700">
            <a:solidFill>
              <a:srgbClr val="38A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6126480" y="12801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🔬  Deep Investigation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217920" y="18288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• Full timeline of user 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217920" y="22860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• Who else was on this machine?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217920" y="27432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• Active at the same time?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126480" y="3794760"/>
            <a:ext cx="2697480" cy="1005840"/>
          </a:xfrm>
          <a:prstGeom prst="rect">
            <a:avLst/>
          </a:prstGeom>
          <a:solidFill>
            <a:srgbClr val="38A169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6199632" y="3822192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Builds the case — evidence an analyst can read and trust.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/>
          <p:nvPr/>
        </p:nvSpPr>
        <p:spPr>
          <a:xfrm>
            <a:off x="0" y="0"/>
            <a:ext cx="9144000" cy="91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0" y="5047488"/>
            <a:ext cx="9144000" cy="91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57200" y="4572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57200" y="1188720"/>
            <a:ext cx="82296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371600" y="1005840"/>
            <a:ext cx="6400800" cy="3291840"/>
          </a:xfrm>
          <a:prstGeom prst="rect">
            <a:avLst/>
          </a:prstGeom>
          <a:solidFill>
            <a:srgbClr val="1A2F5E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Demo recording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Watch the agent discover an attacker it was never told about — using only raw logs.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o what extent does an LLM-orchestrated Knowledge Graph (KG) improve the precision and recall of lateral movement detection compared to a static rule-based Cypher baseline, using only behavioral signals from authentication and process execution logs? This is a demo explaining the project that aims to test the same." id="257" name="Google Shape;257;p10" title="Agentic Lateral Movement Detection -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Results: Did It Work?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20040" y="914400"/>
            <a:ext cx="2697480" cy="201168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320040" y="1005840"/>
            <a:ext cx="2697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A169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38A169"/>
                </a:solidFill>
                <a:latin typeface="Calibri"/>
                <a:ea typeface="Calibri"/>
                <a:cs typeface="Calibri"/>
                <a:sym typeface="Calibri"/>
              </a:rPr>
              <a:t>0.978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20040" y="201168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320040" y="23774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Caught 97.8% of real attacks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246120" y="914400"/>
            <a:ext cx="2697480" cy="201168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3246120" y="1005840"/>
            <a:ext cx="2697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0.747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246120" y="201168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F1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246120" y="23774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vs. baseline F1 of 0.732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172200" y="914400"/>
            <a:ext cx="2697480" cy="201168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1016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6172200" y="1005840"/>
            <a:ext cx="2697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0.605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172200" y="201168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172200" y="23774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vs. baseline precision 0.577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20040" y="3017520"/>
            <a:ext cx="8503920" cy="4572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320040" y="301752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Surprising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57200" y="361188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🎯  The miss: an attacker who only touched ONE machine — by definition, not lateral movement.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57200" y="404164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⚠️  False alarms came from busy hub machines (everyone uses them) — the agent over-flagged shared servers.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57200" y="4471416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🤖  The agent wrote better explanations than expected</a:t>
            </a:r>
            <a:r>
              <a:rPr lang="en-US" sz="125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. I</a:t>
            </a:r>
            <a:r>
              <a:rPr b="0" i="0" lang="en-US" sz="12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 reasoned like an analyst, not just a detector.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The Takeaway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1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AI that reads a network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1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like a detective can find attackers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1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 static rules simply miss.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Mean F1: 0.747  ·  Mean Recall: 0.978  ·  Mean Precision: 0.605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Baseline F1: 0.732  ·  338 red-team events  ·  LANL dataset  ·  30 balanced cases × 3 runs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